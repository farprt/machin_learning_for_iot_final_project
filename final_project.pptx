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94" r:id="rId3"/>
    <p:sldId id="295" r:id="rId4"/>
    <p:sldId id="262" r:id="rId5"/>
    <p:sldId id="263" r:id="rId6"/>
    <p:sldId id="265" r:id="rId7"/>
    <p:sldId id="287" r:id="rId8"/>
    <p:sldId id="299" r:id="rId9"/>
    <p:sldId id="283" r:id="rId10"/>
    <p:sldId id="257" r:id="rId11"/>
    <p:sldId id="258" r:id="rId12"/>
    <p:sldId id="296" r:id="rId13"/>
    <p:sldId id="264" r:id="rId14"/>
    <p:sldId id="297" r:id="rId15"/>
    <p:sldId id="298" r:id="rId16"/>
    <p:sldId id="260" r:id="rId17"/>
    <p:sldId id="25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3A2AF-4110-4D7A-BEE6-37E10E1CB6C0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7DAEC-4C09-4316-9E6A-53A2BC8D3F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8BF17-AA41-46B2-BEAD-B3B107483BA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梯形 8"/>
          <p:cNvSpPr/>
          <p:nvPr userDrawn="1"/>
        </p:nvSpPr>
        <p:spPr>
          <a:xfrm>
            <a:off x="612201" y="1134794"/>
            <a:ext cx="3524250" cy="704850"/>
          </a:xfrm>
          <a:prstGeom prst="trapezoid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533378"/>
            <a:ext cx="12192000" cy="5324622"/>
          </a:xfrm>
          <a:prstGeom prst="rect">
            <a:avLst/>
          </a:prstGeom>
          <a:solidFill>
            <a:srgbClr val="1F48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梯形 7"/>
          <p:cNvSpPr/>
          <p:nvPr userDrawn="1"/>
        </p:nvSpPr>
        <p:spPr>
          <a:xfrm flipV="1">
            <a:off x="781409" y="1134794"/>
            <a:ext cx="3185832" cy="1329578"/>
          </a:xfrm>
          <a:prstGeom prst="trapezoid">
            <a:avLst>
              <a:gd name="adj" fmla="val 9829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44"/>
          <p:cNvSpPr txBox="1"/>
          <p:nvPr userDrawn="1"/>
        </p:nvSpPr>
        <p:spPr>
          <a:xfrm>
            <a:off x="1352747" y="1134794"/>
            <a:ext cx="261449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</a:rPr>
              <a:t>目录</a:t>
            </a:r>
            <a:endParaRPr lang="en-US" altLang="zh-CN" sz="3600" b="1">
              <a:solidFill>
                <a:schemeClr val="bg1"/>
              </a:solidFill>
            </a:endParaRPr>
          </a:p>
          <a:p>
            <a:r>
              <a:rPr lang="en-US" sz="3200">
                <a:solidFill>
                  <a:schemeClr val="bg1"/>
                </a:solidFill>
              </a:rPr>
              <a:t>CONTENT</a:t>
            </a:r>
            <a:r>
              <a:rPr lang="en-US" altLang="zh-CN" sz="3200">
                <a:solidFill>
                  <a:schemeClr val="bg1"/>
                </a:solidFill>
              </a:rPr>
              <a:t>S</a:t>
            </a:r>
            <a:endParaRPr 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4EF0-5349-4E38-A1AF-51889FA86628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228600" indent="-228600">
              <a:buFont typeface="+mj-lt"/>
              <a:buAutoNum type="arabicPeriod"/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4EF0-5349-4E38-A1AF-51889FA86628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D384-1101-41E9-A028-D56DC34A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130F7-A0B8-44BC-A0E1-4DA15BBCBC7D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7E7FF-CF17-482B-928C-84938DB138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3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46672"/>
            <a:ext cx="12192000" cy="1841326"/>
          </a:xfrm>
          <a:prstGeom prst="rect">
            <a:avLst/>
          </a:prstGeom>
          <a:solidFill>
            <a:srgbClr val="1F48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487C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1340" y="2091015"/>
            <a:ext cx="1090235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"Harry Potter wand" gesture recognition system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81400" y="4531995"/>
            <a:ext cx="8513445" cy="1386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Team Members:  Zhongwang Fu     Yifan Zhang </a:t>
            </a:r>
          </a:p>
          <a:p>
            <a:pPr algn="l"/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Jiagang Yu            Tian Gao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81355" y="1071245"/>
            <a:ext cx="3441700" cy="139065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>
                <a:latin typeface="Times New Roman" panose="02020603050405020304" pitchFamily="18" charset="0"/>
                <a:ea typeface="仿宋" panose="02010609060101010101" charset="-122"/>
                <a:cs typeface="Times New Roman" panose="02020603050405020304" pitchFamily="18" charset="0"/>
              </a:rPr>
              <a:t>CONTENTS</a:t>
            </a:r>
            <a:endParaRPr lang="en-US" altLang="zh-CN" b="1">
              <a:latin typeface="Times New Roman" panose="02020603050405020304" pitchFamily="18" charset="0"/>
              <a:ea typeface="仿宋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925" y="2718435"/>
            <a:ext cx="3965575" cy="521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I. Data Acquisition</a:t>
            </a:r>
          </a:p>
        </p:txBody>
      </p:sp>
      <p:sp>
        <p:nvSpPr>
          <p:cNvPr id="8" name="矩形 7"/>
          <p:cNvSpPr/>
          <p:nvPr/>
        </p:nvSpPr>
        <p:spPr>
          <a:xfrm>
            <a:off x="796646" y="3764853"/>
            <a:ext cx="10868611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II.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Hybrid Framework: Augmented 1D-CNN &amp; On-Device KNN</a:t>
            </a:r>
          </a:p>
        </p:txBody>
      </p:sp>
      <p:sp>
        <p:nvSpPr>
          <p:cNvPr id="9" name="矩形 8"/>
          <p:cNvSpPr/>
          <p:nvPr/>
        </p:nvSpPr>
        <p:spPr>
          <a:xfrm>
            <a:off x="796925" y="4811395"/>
            <a:ext cx="9787890" cy="521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III. Real-time On-device Gesture Recognition on Arduino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6925" y="5857875"/>
            <a:ext cx="8864600" cy="521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IV.  Limitations and Areas for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95" y="80010"/>
            <a:ext cx="12106910" cy="521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I. Data Acquisition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-126" y="1983581"/>
            <a:ext cx="12191999" cy="999000"/>
            <a:chOff x="0" y="861536"/>
            <a:chExt cx="12191999" cy="999000"/>
          </a:xfrm>
        </p:grpSpPr>
        <p:sp>
          <p:nvSpPr>
            <p:cNvPr id="3" name="矩形 2"/>
            <p:cNvSpPr/>
            <p:nvPr/>
          </p:nvSpPr>
          <p:spPr>
            <a:xfrm>
              <a:off x="0" y="1230536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40575" y="861536"/>
              <a:ext cx="10110848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5" name="矩形: 圆角 4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 collection via Edge Impulse for streaming and parameter exploration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0669" y="3137074"/>
            <a:ext cx="12191999" cy="1021609"/>
            <a:chOff x="1" y="1851378"/>
            <a:chExt cx="12191999" cy="1021609"/>
          </a:xfrm>
        </p:grpSpPr>
        <p:sp>
          <p:nvSpPr>
            <p:cNvPr id="7" name="矩形 6"/>
            <p:cNvSpPr/>
            <p:nvPr/>
          </p:nvSpPr>
          <p:spPr>
            <a:xfrm>
              <a:off x="1" y="2242987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040576" y="1851378"/>
              <a:ext cx="10110847" cy="902970"/>
              <a:chOff x="604375" y="1115365"/>
              <a:chExt cx="8534399" cy="902970"/>
            </a:xfrm>
            <a:solidFill>
              <a:srgbClr val="1F487C"/>
            </a:solidFill>
          </p:grpSpPr>
          <p:sp>
            <p:nvSpPr>
              <p:cNvPr id="9" name="矩形: 圆角 8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矩形: 圆角 5"/>
              <p:cNvSpPr txBox="1"/>
              <p:nvPr/>
            </p:nvSpPr>
            <p:spPr>
              <a:xfrm>
                <a:off x="640287" y="1115365"/>
                <a:ext cx="8462258" cy="902970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Sampling rate: 62.5 Hz, recording window: 3 seconds</a:t>
                </a:r>
              </a:p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187 time steps 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axes = 561 values per sample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10669" y="4503041"/>
            <a:ext cx="12191999" cy="999074"/>
            <a:chOff x="1" y="3055766"/>
            <a:chExt cx="12191999" cy="999074"/>
          </a:xfrm>
        </p:grpSpPr>
        <p:sp>
          <p:nvSpPr>
            <p:cNvPr id="11" name="矩形 10"/>
            <p:cNvSpPr/>
            <p:nvPr/>
          </p:nvSpPr>
          <p:spPr>
            <a:xfrm>
              <a:off x="1" y="3424840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083256" y="3055766"/>
              <a:ext cx="1006816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3" name="矩形: 圆角 12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lvl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Three gesture classes: Flipendo, Wingardium, Others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-126" y="5669309"/>
            <a:ext cx="12191999" cy="999000"/>
            <a:chOff x="0" y="5258464"/>
            <a:chExt cx="12191999" cy="999000"/>
          </a:xfrm>
        </p:grpSpPr>
        <p:sp>
          <p:nvSpPr>
            <p:cNvPr id="15" name="矩形 14"/>
            <p:cNvSpPr/>
            <p:nvPr/>
          </p:nvSpPr>
          <p:spPr>
            <a:xfrm>
              <a:off x="0" y="5627464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083076" y="5258464"/>
              <a:ext cx="10025666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7" name="矩形: 圆角 16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size: 300 samples per class, 900 samples in total</a:t>
                </a: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10669" y="761206"/>
            <a:ext cx="12191999" cy="999000"/>
            <a:chOff x="0" y="861536"/>
            <a:chExt cx="12191999" cy="999000"/>
          </a:xfrm>
        </p:grpSpPr>
        <p:sp>
          <p:nvSpPr>
            <p:cNvPr id="20" name="矩形 19"/>
            <p:cNvSpPr/>
            <p:nvPr/>
          </p:nvSpPr>
          <p:spPr>
            <a:xfrm>
              <a:off x="0" y="1230536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040575" y="861536"/>
              <a:ext cx="10110848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22" name="矩形: 圆角 4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Device: Arduino Nano 33 BLE Sense (3-axis accelerometer)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0400" y="0"/>
            <a:ext cx="10851199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Ⅱ	Hybrid Framework: Augmented 1D-CNN &amp; On-Device KNN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0669" y="861536"/>
            <a:ext cx="12191999" cy="999000"/>
            <a:chOff x="0" y="861536"/>
            <a:chExt cx="12191999" cy="999000"/>
          </a:xfrm>
        </p:grpSpPr>
        <p:sp>
          <p:nvSpPr>
            <p:cNvPr id="3" name="矩形 2"/>
            <p:cNvSpPr/>
            <p:nvPr/>
          </p:nvSpPr>
          <p:spPr>
            <a:xfrm>
              <a:off x="0" y="1230536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40575" y="861536"/>
              <a:ext cx="10110848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5" name="矩形: 圆角 4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Built a lightweight end-to-end MLP for accelerometer-based gesture recognition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0034" y="1987089"/>
            <a:ext cx="12191999" cy="988589"/>
            <a:chOff x="1" y="1930753"/>
            <a:chExt cx="12191999" cy="988589"/>
          </a:xfrm>
        </p:grpSpPr>
        <p:sp>
          <p:nvSpPr>
            <p:cNvPr id="7" name="矩形 6"/>
            <p:cNvSpPr/>
            <p:nvPr/>
          </p:nvSpPr>
          <p:spPr>
            <a:xfrm>
              <a:off x="1" y="2289342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040576" y="1930753"/>
              <a:ext cx="1011084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9" name="矩形: 圆角 8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architecture: 561–32–16–3 (fully connected layers)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9399" y="3172716"/>
            <a:ext cx="12191999" cy="999074"/>
            <a:chOff x="1" y="3055766"/>
            <a:chExt cx="12191999" cy="999074"/>
          </a:xfrm>
        </p:grpSpPr>
        <p:sp>
          <p:nvSpPr>
            <p:cNvPr id="11" name="矩形 10"/>
            <p:cNvSpPr/>
            <p:nvPr/>
          </p:nvSpPr>
          <p:spPr>
            <a:xfrm>
              <a:off x="1" y="3424840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083256" y="3055766"/>
              <a:ext cx="1006816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3" name="矩形: 圆角 12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lvl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ReLU activations for hidden layers and Softmax output for multi-class classification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30989" y="4311044"/>
            <a:ext cx="12191999" cy="999000"/>
            <a:chOff x="0" y="5258464"/>
            <a:chExt cx="12191999" cy="999000"/>
          </a:xfrm>
        </p:grpSpPr>
        <p:sp>
          <p:nvSpPr>
            <p:cNvPr id="15" name="矩形 14"/>
            <p:cNvSpPr/>
            <p:nvPr/>
          </p:nvSpPr>
          <p:spPr>
            <a:xfrm>
              <a:off x="0" y="5627464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083076" y="5258464"/>
              <a:ext cx="10025666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7" name="矩形: 圆角 16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Trained fully on-device using SGD with backpropagation and L2 regularization</a:t>
                </a: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9399" y="5371004"/>
            <a:ext cx="12191999" cy="988589"/>
            <a:chOff x="1" y="1930753"/>
            <a:chExt cx="12191999" cy="988589"/>
          </a:xfrm>
        </p:grpSpPr>
        <p:sp>
          <p:nvSpPr>
            <p:cNvPr id="20" name="矩形 19"/>
            <p:cNvSpPr/>
            <p:nvPr/>
          </p:nvSpPr>
          <p:spPr>
            <a:xfrm>
              <a:off x="1" y="2289342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040576" y="1930753"/>
              <a:ext cx="1011084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22" name="矩形: 圆角 8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Improved robustness and stability compared to fixed embedding-based approaches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83832" y="0"/>
            <a:ext cx="8424334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	</a:t>
            </a:r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Overall System Architecture and Process Design</a:t>
            </a:r>
            <a:endParaRPr lang="zh-CN" altLang="zh-CN" b="1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1" y="2893677"/>
            <a:ext cx="1219200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adopts a standalone on-device spell recognition architecture based on IMU time-series data and an end-to-end Multi-Layer Perceptron (MLP).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physics-based data augmentation and preprocessing, the flattened accelerometer features are directly fed into a lightweight MLP (561–32–16–3), which performs both feature learning and classification on the device.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fully on-device training and inference pipeline improves robustness to variations in user motion while avoiding reliance on fixed embeddings or external processing.</a:t>
            </a:r>
          </a:p>
          <a:p>
            <a:pPr indent="457200" algn="just"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1" y="661708"/>
            <a:ext cx="12192000" cy="2624436"/>
            <a:chOff x="0" y="712525"/>
            <a:chExt cx="12192000" cy="262443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12525"/>
              <a:ext cx="12192000" cy="262443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0250" y="1257300"/>
              <a:ext cx="6670221" cy="1551214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4305751" y="800247"/>
              <a:ext cx="2059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722870" y="2845435"/>
            <a:ext cx="5208905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/>
              <a:t>KNN Classifier (Explored, not used in final system)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832098" y="0"/>
            <a:ext cx="6527801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	Data </a:t>
            </a:r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Processing and Augmentation</a:t>
            </a:r>
            <a:endParaRPr lang="zh-CN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" y="651986"/>
            <a:ext cx="12192000" cy="613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the signal preprocessing described in the previous section, the raw acceleration data has been converted to G-units, passed through a simulated high-pass filter to remove gravity components, and aligned to a fixed length of 187 time steps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dataset consists of approximately 300 clean, "gravity-free" motion sequences per class (e.g., Flipendo, Wingardium Leviosa).</a:t>
            </a:r>
          </a:p>
          <a:p>
            <a:pPr marL="0" marR="0" lvl="0" indent="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neural network model on such a limited dataset presents a significant risk of overfitting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real-world deployment, the "Magic Wand" faces substantial variability in user behavior. A standard user might hold the wand with a different grip, cast spells at varying speeds, or apply different force intensities compared to the training data. To bridge the gap between the limited collected samples and complex real-world usage, a physics-based data augmentation strategy is essential.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23064" y="0"/>
            <a:ext cx="7145868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2.2.1	Physics-Based Augmentation Strategies</a:t>
            </a:r>
            <a:endParaRPr lang="zh-CN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2" y="318067"/>
            <a:ext cx="12192001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realistic physical variations in wand handling, the generator implements six specific stochastic transformation algorithms. Each algorithm targets a specific robustness issue observed in IMU-based gesture recognition: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0" y="1663781"/>
                <a:ext cx="6096000" cy="4566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1. Axis Permutation: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Randomly swaps X, Y, Z axes. 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Simulates 90° changes in grip orientation (e.g., holding the wand sideways).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 Channel Flip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Randomly inverts the sign of sensor axes.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Simulates holding the wand backward or left-handed usage patterns.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3. Spatial Rotation (3D Affine)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Applies random 3D rotation matrices (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−30°, 30°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Simulates arbitrary wrist tilts and non-standard holding postures.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3781"/>
                <a:ext cx="6096000" cy="4566891"/>
              </a:xfrm>
              <a:prstGeom prst="rect">
                <a:avLst/>
              </a:prstGeom>
              <a:blipFill rotWithShape="1">
                <a:blip r:embed="rId2"/>
                <a:stretch>
                  <a:fillRect t="-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095998" y="1321594"/>
                <a:ext cx="6096000" cy="4849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4. Signal Scaling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Scales amplitude by a random factor (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(1, 0.1)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Adapts to variations in casting force (gentle vs. vigorous movements).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5. Time Warping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Non-linearly stretches or squeezes the time axis via interpolation.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Handles uneven casting speeds (e.g., fast start, slow finish).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6. Jitter Injection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Adds Gaussian noise (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𝑛𝑜𝑖𝑠𝑒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(0, 0.05)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the signal.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Purpose: Simulates sensor thermal noise and unintentional hand tremors.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1321594"/>
                <a:ext cx="6096000" cy="4849404"/>
              </a:xfrm>
              <a:prstGeom prst="rect">
                <a:avLst/>
              </a:prstGeom>
              <a:blipFill rotWithShape="1">
                <a:blip r:embed="rId3"/>
                <a:stretch>
                  <a:fillRect l="-10" t="-3" r="10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0" y="6028055"/>
            <a:ext cx="120967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Clarification: Although an embedding + KNN pipeline was initially explored for few-shot adaptation,the final deployed system adopts an end-to-end MLP for primary classification,while KNN is retained only as an optional on-device personalization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28F58C0-823B-4F15-91DC-8736C4269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954" y="21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4867C8-A58B-44B9-B626-53E161D4EE7E}"/>
              </a:ext>
            </a:extLst>
          </p:cNvPr>
          <p:cNvSpPr txBox="1"/>
          <p:nvPr/>
        </p:nvSpPr>
        <p:spPr>
          <a:xfrm>
            <a:off x="2345062" y="0"/>
            <a:ext cx="75018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	Lightweight 1D-CNN Model Architecture</a:t>
            </a:r>
            <a:endParaRPr lang="zh-CN" altLang="en-US" sz="2800" b="1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A3C52F-C5E5-3F6E-39FF-C53435AB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183"/>
            <a:ext cx="12192000" cy="2298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9875DB1-CD0F-10AA-8DEA-49656C80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8068733" cy="18630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B5C8925-B4D7-7C49-FFEF-037DFB5C3B2C}"/>
              </a:ext>
            </a:extLst>
          </p:cNvPr>
          <p:cNvSpPr txBox="1"/>
          <p:nvPr/>
        </p:nvSpPr>
        <p:spPr>
          <a:xfrm>
            <a:off x="2788884" y="773668"/>
            <a:ext cx="249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3DB6DD-0040-C547-D351-103D1254BA4C}"/>
              </a:ext>
            </a:extLst>
          </p:cNvPr>
          <p:cNvSpPr txBox="1"/>
          <p:nvPr/>
        </p:nvSpPr>
        <p:spPr>
          <a:xfrm>
            <a:off x="-1" y="3210909"/>
            <a:ext cx="12192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designed as an efficient feature extractor for the Arduino Nano 33 BLE.</a:t>
            </a:r>
          </a:p>
          <a:p>
            <a:pPr marL="28575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CNN Backbone: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temporal motion patterns from accelerometer data using Conv1D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layers.</a:t>
            </a:r>
          </a:p>
          <a:p>
            <a:pPr marL="28575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16-dim Embedding: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Compresses high-dimensional features into a compact vector, creating a unique "fingerprint" for each spell.</a:t>
            </a:r>
          </a:p>
          <a:p>
            <a:pPr marL="285750" indent="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Dual-Branch Strategy:</a:t>
            </a:r>
          </a:p>
          <a:p>
            <a:pPr lvl="1" indent="457200" algn="just">
              <a:lnSpc>
                <a:spcPct val="150000"/>
              </a:lnSpc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Training Phase: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Linear Classifier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optimize network weights.</a:t>
            </a:r>
          </a:p>
          <a:p>
            <a:pPr lvl="1" indent="457200" algn="just">
              <a:lnSpc>
                <a:spcPct val="150000"/>
              </a:lnSpc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Deployment Phase: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Discards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and uses the embeddings with a KNN classifier for real-time inference.</a:t>
            </a:r>
          </a:p>
        </p:txBody>
      </p:sp>
    </p:spTree>
    <p:extLst>
      <p:ext uri="{BB962C8B-B14F-4D97-AF65-F5344CB8AC3E}">
        <p14:creationId xmlns:p14="http://schemas.microsoft.com/office/powerpoint/2010/main" val="1318028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93722" y="0"/>
            <a:ext cx="4804555" cy="58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	Training &amp; Deployment</a:t>
            </a:r>
            <a:endParaRPr lang="zh-CN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525890"/>
            <a:ext cx="12192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Training Strategy &amp; Performance: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using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optimizer with dynamic learning rate adjustment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stable convergence. As shown in the graph, the validation accuracy rapidly stabilized at &gt;99%, demonstrating that the physics-based data augmentation strategy effectively prevented overfitting and allowed the model to learn robust motion features.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Deployment: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few-shot learning on the microcontroller, the final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layer was pruned to output the raw 16-dimensional embedding vector instead of class probabilities. This "Feature Extractor" was then converted to TensorFlow Lite format and exported as a C byte array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net.h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allowing the Arduino to generate spell fingerprints in real-time.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 descr="图表, 直方图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059" y="3556545"/>
            <a:ext cx="8659700" cy="3301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9905" y="-1270"/>
            <a:ext cx="86321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2.5 On-device KNN Decision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Learning vs Inference</a:t>
            </a:r>
          </a:p>
        </p:txBody>
      </p:sp>
      <p:pic>
        <p:nvPicPr>
          <p:cNvPr id="7" name="图片 6" descr="Flowchart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625" y="1350645"/>
            <a:ext cx="3910330" cy="22288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49630" y="751840"/>
            <a:ext cx="4315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 Block Diagram</a:t>
            </a:r>
          </a:p>
        </p:txBody>
      </p:sp>
      <p:pic>
        <p:nvPicPr>
          <p:cNvPr id="9" name="图片 8" descr="Flowchart (2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30" y="4152900"/>
            <a:ext cx="4540250" cy="24301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36625" y="36753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Inference Mode Block Diagram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90540" y="944880"/>
            <a:ext cx="650811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‘1’ -&gt; label =</a:t>
            </a:r>
            <a:r>
              <a:rPr lang="en-US" altLang="zh-CN" sz="200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Flipendo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; ‘2’ -&gt; label  = </a:t>
            </a:r>
            <a:r>
              <a:rPr lang="en-US" altLang="zh-CN" sz="200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Wingardium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Next Recording -&gt; Get embedding[16] -&gt; Store as new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Local database stores {feature[16],label)}up to 10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590540" y="2767965"/>
                <a:ext cx="6096000" cy="23133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zh-CN" sz="2000" b="1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Inference Mode:</a:t>
                </a:r>
                <a:endParaRPr lang="en-US" altLang="zh-CN" sz="2000" b="1">
                  <a:solidFill>
                    <a:srgbClr val="1F487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For each stored samle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, compute Squared Euclidean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16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,</m:t>
                                </m:r>
                                <m:r>
                                  <a:rPr lang="en-US" altLang="zh-CN" sz="2000" i="1"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+mn-ea"/>
                          </a:rPr>
                          <m:t> </m:t>
                        </m:r>
                      </m:e>
                    </m:nary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Choose Nearest: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𝑚𝑖𝑛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_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𝑑𝑖𝑠𝑡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𝑚𝑖𝑛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 and output it’s label.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40" y="2767965"/>
                <a:ext cx="6096000" cy="23133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5590540" y="4399280"/>
            <a:ext cx="65081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Threshold Gate (realiability):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min_dist &lt; TH, then accept and output the label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Else-&gt; 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Unknown / Reject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(Reduces false positives from random motion)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 sz="200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00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36015" y="0"/>
            <a:ext cx="9500235" cy="5219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800" b="1" dirty="0">
                <a:solidFill>
                  <a:srgbClr val="1F487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III	Real-time On-device Gesture Recognition on Arduino </a:t>
            </a:r>
            <a:endParaRPr lang="zh-CN" altLang="en-US" sz="2800" b="1" dirty="0">
              <a:solidFill>
                <a:srgbClr val="1F487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669" y="861536"/>
            <a:ext cx="12191999" cy="999000"/>
            <a:chOff x="0" y="861536"/>
            <a:chExt cx="12191999" cy="999000"/>
          </a:xfrm>
        </p:grpSpPr>
        <p:sp>
          <p:nvSpPr>
            <p:cNvPr id="3" name="矩形 2"/>
            <p:cNvSpPr/>
            <p:nvPr/>
          </p:nvSpPr>
          <p:spPr>
            <a:xfrm>
              <a:off x="0" y="1230536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40575" y="861536"/>
              <a:ext cx="10110848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5" name="矩形: 圆角 4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Deployed an end-to-end MLP model (561–32–16–3) on Arduino Nano 33 BLE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0669" y="2330624"/>
            <a:ext cx="12191999" cy="988589"/>
            <a:chOff x="1" y="1930753"/>
            <a:chExt cx="12191999" cy="988589"/>
          </a:xfrm>
        </p:grpSpPr>
        <p:sp>
          <p:nvSpPr>
            <p:cNvPr id="7" name="矩形 6"/>
            <p:cNvSpPr/>
            <p:nvPr/>
          </p:nvSpPr>
          <p:spPr>
            <a:xfrm>
              <a:off x="1" y="2289342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040576" y="1930753"/>
              <a:ext cx="1011084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9" name="矩形: 圆角 8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Triggered and recorded fixed windows (187 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= 561) with gravity-free acceleration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10669" y="3789301"/>
            <a:ext cx="12191999" cy="999074"/>
            <a:chOff x="1" y="3055766"/>
            <a:chExt cx="12191999" cy="999074"/>
          </a:xfrm>
        </p:grpSpPr>
        <p:sp>
          <p:nvSpPr>
            <p:cNvPr id="11" name="矩形 10"/>
            <p:cNvSpPr/>
            <p:nvPr/>
          </p:nvSpPr>
          <p:spPr>
            <a:xfrm>
              <a:off x="1" y="3424840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083256" y="3055766"/>
              <a:ext cx="10068167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3" name="矩形: 圆角 12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lvl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Performed on-device inference using Softmax-based multi-class classification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10669" y="5258464"/>
            <a:ext cx="12191999" cy="999000"/>
            <a:chOff x="0" y="5258464"/>
            <a:chExt cx="12191999" cy="999000"/>
          </a:xfrm>
        </p:grpSpPr>
        <p:sp>
          <p:nvSpPr>
            <p:cNvPr id="15" name="矩形 14"/>
            <p:cNvSpPr/>
            <p:nvPr/>
          </p:nvSpPr>
          <p:spPr>
            <a:xfrm>
              <a:off x="0" y="5627464"/>
              <a:ext cx="12191999" cy="6300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083076" y="5258464"/>
              <a:ext cx="10025666" cy="738000"/>
              <a:chOff x="604375" y="1194740"/>
              <a:chExt cx="8534399" cy="738000"/>
            </a:xfrm>
            <a:solidFill>
              <a:srgbClr val="1F487C"/>
            </a:solidFill>
          </p:grpSpPr>
          <p:sp>
            <p:nvSpPr>
              <p:cNvPr id="17" name="矩形: 圆角 16"/>
              <p:cNvSpPr/>
              <p:nvPr/>
            </p:nvSpPr>
            <p:spPr>
              <a:xfrm>
                <a:off x="604375" y="1194740"/>
                <a:ext cx="8534399" cy="738000"/>
              </a:xfrm>
              <a:prstGeom prst="roundRect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矩形: 圆角 5"/>
              <p:cNvSpPr txBox="1"/>
              <p:nvPr/>
            </p:nvSpPr>
            <p:spPr>
              <a:xfrm>
                <a:off x="640401" y="1230766"/>
                <a:ext cx="8462347" cy="665948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22580" tIns="0" rIns="322580" bIns="0" numCol="1" spcCol="1270" anchor="ctr" anchorCtr="0">
                <a:noAutofit/>
              </a:bodyPr>
              <a:lstStyle/>
              <a:p>
                <a:pPr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Delivered real-time outputs via Serial messages and RGB LED indicators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38387" y="0"/>
            <a:ext cx="3915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3.1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Arduino Deployment</a:t>
            </a:r>
          </a:p>
        </p:txBody>
      </p:sp>
      <p:pic>
        <p:nvPicPr>
          <p:cNvPr id="8" name="图片 7" descr="Flowchar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8445" y="707390"/>
            <a:ext cx="1139825" cy="5196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783965" y="830580"/>
                <a:ext cx="7752715" cy="51968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IMU Read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Continuously read 3-axis acceleration (ax, ay, </a:t>
                </a:r>
                <a:r>
                  <a:rPr lang="en-US" altLang="zh-C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Gravity Removal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Low-pass estimate gravity g and compute the linear acceleration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𝑟𝑎𝑤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</m:oMath>
                </a14:m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Trigger </a:t>
                </a:r>
                <a:r>
                  <a:rPr lang="en-US" altLang="zh-CN" sz="2200" b="1" dirty="0" err="1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Dectection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start recording when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|+|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|+|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|&gt;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𝐴𝐶𝐶𝐸𝐿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_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𝑇𝐻</m:t>
                    </m:r>
                  </m:oMath>
                </a14:m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Window Recording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capture a fixed window of 187*3 = 561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 err="1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TFLite</a:t>
                </a: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Inference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feed 561 samples and run end-to-end MLP inference to obtain class probabilities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solidFill>
                      <a:srgbClr val="1F487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Decide and report gesture class via Serial communication and RGB LED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965" y="830580"/>
                <a:ext cx="7752715" cy="5196840"/>
              </a:xfrm>
              <a:prstGeom prst="rect">
                <a:avLst/>
              </a:prstGeom>
              <a:blipFill rotWithShape="1">
                <a:blip r:embed="rId5"/>
                <a:stretch>
                  <a:fillRect b="-17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14954" y="2102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21776" y="0"/>
            <a:ext cx="91484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	On-device Learning Architecture (End-to-End MLP)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-1" y="4034504"/>
            <a:ext cx="1219200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illustrates the overall on-device learning pipeline.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final system, the accelerometer features are flattened and fed directly into a lightweight end-to-end MLP     (561–32–16–3), which performs both feature learning and classification on the device.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CNN-based embedding and KNN designs were explored but abandoned due to stability issues, and are not used in the final implementation.</a:t>
            </a:r>
          </a:p>
          <a:p>
            <a:pPr indent="457200" algn="just"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15" y="731520"/>
            <a:ext cx="8243570" cy="30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47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09116" y="0"/>
            <a:ext cx="414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Video Demonstration</a:t>
            </a:r>
            <a:endParaRPr lang="en-US" altLang="zh-CN" sz="2800" b="1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bd4f0f6126adcd439e315b9a9f01388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6034" y="707390"/>
            <a:ext cx="10852825" cy="609910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5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71652" y="5380"/>
            <a:ext cx="86321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4.1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Limatition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62003" y="816446"/>
            <a:ext cx="431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Temporary Memory</a:t>
            </a:r>
            <a:r>
              <a:rPr lang="zh-CN" altLang="en-US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247361" y="1485899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RAM-based storage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>
            <a:off x="4363279" y="2027582"/>
            <a:ext cx="2141882" cy="19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505161" y="1485899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Patterns lost upon reset</a:t>
            </a:r>
            <a:endParaRPr lang="zh-CN" altLang="en-US" dirty="0"/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462003" y="2775178"/>
            <a:ext cx="431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Windowing</a:t>
            </a:r>
            <a:r>
              <a:rPr lang="zh-CN" altLang="en-US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1247361" y="3422877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Rigid 3-second recording window.</a:t>
            </a:r>
            <a:endParaRPr lang="zh-CN" altLang="en-US" dirty="0"/>
          </a:p>
        </p:txBody>
      </p:sp>
      <p:cxnSp>
        <p:nvCxnSpPr>
          <p:cNvPr id="16" name="直接箭头连接符 15"/>
          <p:cNvCxnSpPr>
            <a:stCxn id="15" idx="3"/>
          </p:cNvCxnSpPr>
          <p:nvPr>
            <p:custDataLst>
              <p:tags r:id="rId7"/>
            </p:custDataLst>
          </p:nvPr>
        </p:nvCxnSpPr>
        <p:spPr>
          <a:xfrm>
            <a:off x="4363279" y="3964560"/>
            <a:ext cx="2141882" cy="19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505161" y="3362738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Noise from extra silence</a:t>
            </a:r>
            <a:endParaRPr lang="zh-CN" altLang="en-US" dirty="0"/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462003" y="4797791"/>
            <a:ext cx="4315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Layer Limitation</a:t>
            </a: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247361" y="5465369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Simple 1-NN with a single distance threshold may be sensitive to noise and motion intensity.</a:t>
            </a:r>
          </a:p>
        </p:txBody>
      </p:sp>
      <p:cxnSp>
        <p:nvCxnSpPr>
          <p:cNvPr id="20" name="直接箭头连接符 19"/>
          <p:cNvCxnSpPr>
            <a:stCxn id="19" idx="3"/>
          </p:cNvCxnSpPr>
          <p:nvPr>
            <p:custDataLst>
              <p:tags r:id="rId10"/>
            </p:custDataLst>
          </p:nvPr>
        </p:nvCxnSpPr>
        <p:spPr>
          <a:xfrm>
            <a:off x="4363279" y="6007052"/>
            <a:ext cx="2141882" cy="19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505161" y="5467244"/>
            <a:ext cx="3115918" cy="1083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Easily confused by noise or intensity.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9905" y="-60409"/>
            <a:ext cx="86321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4.2 Solutions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11147" y="2962830"/>
            <a:ext cx="431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Segmentation</a:t>
            </a:r>
            <a:r>
              <a:rPr lang="zh-CN" altLang="en-US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247361" y="1485899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Integrate EEPROM/Flash memory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>
            <a:off x="4363279" y="2027582"/>
            <a:ext cx="2141882" cy="198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505161" y="1485899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Permanent storage of user profiles.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14403" y="968846"/>
            <a:ext cx="431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Storage</a:t>
            </a:r>
            <a:r>
              <a:rPr lang="zh-CN" altLang="en-US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247361" y="3528389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Adaptive dynamic motion cropping.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stCxn id="7" idx="3"/>
          </p:cNvCxnSpPr>
          <p:nvPr>
            <p:custDataLst>
              <p:tags r:id="rId7"/>
            </p:custDataLst>
          </p:nvPr>
        </p:nvCxnSpPr>
        <p:spPr>
          <a:xfrm>
            <a:off x="4363279" y="4070072"/>
            <a:ext cx="2141882" cy="198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505161" y="3528389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Focus on core gesture features.</a:t>
            </a:r>
            <a:endParaRPr lang="zh-CN" altLang="en-US" dirty="0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14403" y="4961036"/>
            <a:ext cx="431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Decision Rules</a:t>
            </a:r>
            <a:r>
              <a:rPr lang="zh-CN" altLang="en-US" sz="2400" b="1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solidFill>
                <a:srgbClr val="1F487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1210918" y="5630489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Adaptive distance thresholding and per-user calibration.</a:t>
            </a:r>
          </a:p>
        </p:txBody>
      </p:sp>
      <p:cxnSp>
        <p:nvCxnSpPr>
          <p:cNvPr id="13" name="直接箭头连接符 12"/>
          <p:cNvCxnSpPr>
            <a:stCxn id="12" idx="3"/>
          </p:cNvCxnSpPr>
          <p:nvPr>
            <p:custDataLst>
              <p:tags r:id="rId10"/>
            </p:custDataLst>
          </p:nvPr>
        </p:nvCxnSpPr>
        <p:spPr>
          <a:xfrm>
            <a:off x="4326836" y="6172172"/>
            <a:ext cx="2141882" cy="198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468718" y="5650368"/>
            <a:ext cx="3115918" cy="108336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Higher accuracy for diverse users.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93529" y="2875002"/>
            <a:ext cx="60951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zh-CN" altLang="en-US" sz="6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613385826772,&quot;left&quot;:-49.87181102362206,&quot;top&quot;:64.28708661417322,&quot;width&quot;:562.089212598425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2.3629133858268,&quot;left&quot;:48.121811023622044,&quot;top&quot;:76.28708661417322,&quot;width&quot;:464.095590551181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1391</Words>
  <Application>Microsoft Office PowerPoint</Application>
  <PresentationFormat>宽屏</PresentationFormat>
  <Paragraphs>119</Paragraphs>
  <Slides>17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 Gao</dc:creator>
  <cp:lastModifiedBy>prt Far</cp:lastModifiedBy>
  <cp:revision>6</cp:revision>
  <dcterms:created xsi:type="dcterms:W3CDTF">2025-12-19T01:13:00Z</dcterms:created>
  <dcterms:modified xsi:type="dcterms:W3CDTF">2026-01-13T19:43:48Z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98AC786FE9634136BB3E5767EE8DE77A_12</vt:lpwstr>
  </property>
</Properties>
</file>